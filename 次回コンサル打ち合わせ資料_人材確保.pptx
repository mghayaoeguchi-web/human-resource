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5029200" cy="5029200"/>
          </a:xfrm>
          <a:prstGeom prst="ellipse">
            <a:avLst/>
          </a:prstGeom>
          <a:solidFill>
            <a:srgbClr val="1E2A4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926080" cy="2926080"/>
          </a:xfrm>
          <a:prstGeom prst="ellipse">
            <a:avLst/>
          </a:prstGeom>
          <a:solidFill>
            <a:srgbClr val="B5651D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人材確保ノウハウ集中支援事業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後継者（中核人材）ペルソナ構築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次回打ち合わせ資料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4F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対象企業：大和合金株式会社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4F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担当コンサルタント：猿渡 秀樹 氏（合同会社HumanRelations）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9A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次回：第1回コンサルティング　2026年9月28日（月）10:00〜　対面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STATUS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これまでの進捗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本人インタビュー実施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選択式インタビューで、経歴・実績・価値観・後継者要件を具体化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97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博士学位論文の原本確認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宇都宮大学（2014年）の学位論文を精読し、研究テーマ・学術業績を確定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749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社内理念資料の確認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1148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製品開発課のミッション・ビジョン・バリュー、成果基準と本人経歴を突合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640080" cy="64008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成果物シート2枚を作成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1663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根拠資料「中核人材ペルソナ」と、採用実務用「後継者ペルソナ要件」を分離作成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大和合金株式会社｜人材確保ノウハウ集中支援事業 コンサルティング 次回打ち合わせ資料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CORE TALENT PERSONA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現・取締役 本社工場長のキャリアパス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（溶解係）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2194560"/>
            <a:ext cx="2980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46934" y="219456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46934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品質保証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（検査）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47134" y="2194560"/>
            <a:ext cx="2980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5229" y="219456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5229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（砂型鋳造係）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5429" y="2194560"/>
            <a:ext cx="2980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3523" y="219456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43523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製品開発課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（係長）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43723" y="2194560"/>
            <a:ext cx="2980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41818" y="219456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41818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朝霞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工場長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742018" y="2194560"/>
            <a:ext cx="2980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40112" y="219456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B5651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40112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取締役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本社工場長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修士卒で入社。在籍しながら社会人ドクターとして宇都宮大学で博士号（工学）を取得（2014年）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514344" cy="1737360"/>
          </a:xfrm>
          <a:prstGeom prst="roundRect">
            <a:avLst>
              <a:gd name="adj" fmla="val 3158"/>
            </a:avLst>
          </a:prstGeom>
          <a:solidFill>
            <a:srgbClr val="F4F4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31520" y="429768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溶解係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709160"/>
            <a:ext cx="3148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原料・合金要素の性質への感覚的理解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37304" y="4160520"/>
            <a:ext cx="3514344" cy="1737360"/>
          </a:xfrm>
          <a:prstGeom prst="roundRect">
            <a:avLst>
              <a:gd name="adj" fmla="val 3158"/>
            </a:avLst>
          </a:prstGeom>
          <a:solidFill>
            <a:srgbClr val="F4F4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520184" y="429768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品質保証（検査）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20184" y="4709160"/>
            <a:ext cx="3148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原子吸光分析・機械的性質・導電率検査。組織と強度のバラつきに直面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5968" y="4160520"/>
            <a:ext cx="3514344" cy="1737360"/>
          </a:xfrm>
          <a:prstGeom prst="roundRect">
            <a:avLst>
              <a:gd name="adj" fmla="val 3158"/>
            </a:avLst>
          </a:prstGeom>
          <a:solidFill>
            <a:srgbClr val="F4F4F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308848" y="429768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砂型鋳造係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08848" y="4709160"/>
            <a:ext cx="3148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凝固過程と結晶粒組織の関係を体得。鋳型作りから出荷までの一貫工程で納期意識を習得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大和合金株式会社｜人材確保ノウハウ集中支援事業 コンサルティング 次回打ち合わせ資料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CORE TALENT PERSONA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主要実績（時期別に整理）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7236" cy="4480560"/>
          </a:xfrm>
          <a:prstGeom prst="roundRect">
            <a:avLst>
              <a:gd name="adj" fmla="val 1224"/>
            </a:avLst>
          </a:prstGeom>
          <a:solidFill>
            <a:srgbClr val="1E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製品開発課 係長時代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7685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8C9A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国家プロジェクト級の共同開発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核融合炉（ITER）向け銅合金を、国の研究機関の研究員と対等に議論しながら開発。同分野で世界供給量No.1の実績。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8C9A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大手企業との共同開発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本田技研工業とF1エンジン用コンロッドメタルを共同開発。コルソン系銅合金「NC50合金」の製法特許を共同出願・取得し、F1車に実採用。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3076" y="1691640"/>
            <a:ext cx="5317236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7396" y="192024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朝霞工場長時代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7396" y="2514600"/>
            <a:ext cx="47685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現場改革（2S活動・生産性改善）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毎日の2Sを習慣化する現場の意識改革を主導し、過去最高の出荷重量を「当たり前」に出せる体制を実現。最大の苦労は短期的な生産優先との時間配分バランス。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大和合金株式会社｜人材確保ノウハウ集中支援事業 コンサルティング 次回打ち合わせ資料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HIRING CRITERIA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後継者に求める資質（優先順位）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960120"/>
          </a:xfrm>
          <a:prstGeom prst="roundRect">
            <a:avLst>
              <a:gd name="adj" fmla="val 5714"/>
            </a:avLst>
          </a:prstGeom>
          <a:solidFill>
            <a:srgbClr val="B565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4708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地道な努力を長期的に継続できる忍耐力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402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最優先。10〜20年規模の技術習得に耐えられる精神力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6309360" cy="960120"/>
          </a:xfrm>
          <a:prstGeom prst="roundRect">
            <a:avLst>
              <a:gd name="adj" fmla="val 5714"/>
            </a:avLst>
          </a:prstGeom>
          <a:solidFill>
            <a:srgbClr val="1E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880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99008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現場を自分の目で見に行く姿勢（現場主義）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83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データ・報告だけに頼らず自ら確認しに行くか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4846320" cy="960120"/>
          </a:xfrm>
          <a:prstGeom prst="roundRect">
            <a:avLst>
              <a:gd name="adj" fmla="val 5714"/>
            </a:avLst>
          </a:prstGeom>
          <a:solidFill>
            <a:srgbClr val="1E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023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立場の違う相手と対等に議論できる度胸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526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社外の専門家・大手企業と渡り合う土台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5362956" cy="9144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367528"/>
            <a:ext cx="49057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「任せられる」決め手　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失敗から逃げず、原因を追究できるか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77356" y="5257800"/>
            <a:ext cx="5362956" cy="914400"/>
          </a:xfrm>
          <a:prstGeom prst="roundRect">
            <a:avLst>
              <a:gd name="adj" fmla="val 6000"/>
            </a:avLst>
          </a:prstGeom>
          <a:solidFill>
            <a:srgbClr val="FBEAE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05956" y="5367528"/>
            <a:ext cx="49057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C3B1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NG基準　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都合の悪い情報を隠す・報告を遅らせる姿勢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大和合金株式会社｜人材確保ノウハウ集中支援事業 コンサルティング 次回打ち合わせ資料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HIRING CRITERIA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採用要件のポイント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17236" cy="4297680"/>
          </a:xfrm>
          <a:prstGeom prst="roundRect">
            <a:avLst>
              <a:gd name="adj" fmla="val 1277"/>
            </a:avLst>
          </a:prstGeom>
          <a:solidFill>
            <a:srgbClr val="1E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768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MUST要件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7685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理工系（材料工学・金属工学・機械材料系）修士以上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非鉄金属材料（特に銅合金）に関する知識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実務課題を科学的・体系的に掘り下げる研究開発志向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3076" y="1737360"/>
            <a:ext cx="5317236" cy="4297680"/>
          </a:xfrm>
          <a:prstGeom prst="roundRect">
            <a:avLst>
              <a:gd name="adj" fmla="val 1277"/>
            </a:avLst>
          </a:prstGeom>
          <a:solidFill>
            <a:srgbClr val="F4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7396" y="1965960"/>
            <a:ext cx="4768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歓迎要件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7396" y="2514600"/>
            <a:ext cx="47685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博士号（工学）取得者、または社会人ドクターとして取得する意欲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学会発表・論文執筆・特許出願のいずれかの経験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大手企業・公的研究機関と対等に議論した対外共同研究経験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大和合金株式会社｜人材確保ノウハウ集中支援事業 コンサルティング 次回打ち合わせ資料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TALENT ACQUISITION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人材確保の要点（1〜3）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94360" cy="59436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25880" y="1737360"/>
            <a:ext cx="10314432" cy="1188720"/>
          </a:xfrm>
          <a:prstGeom prst="roundRect">
            <a:avLst>
              <a:gd name="adj" fmla="val 3846"/>
            </a:avLst>
          </a:prstGeom>
          <a:solidFill>
            <a:srgbClr val="F4F4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182880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採用・評価・処遇・定着を一気通貫で設計する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94560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入口（求人）から出口（評価・処遇）までを線でつなぐ。施策が「点」でバラバラなことが早期離職・採用ミスマッチの根本原因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25880" y="3154680"/>
            <a:ext cx="10314432" cy="1188720"/>
          </a:xfrm>
          <a:prstGeom prst="roundRect">
            <a:avLst>
              <a:gd name="adj" fmla="val 3846"/>
            </a:avLst>
          </a:prstGeom>
          <a:solidFill>
            <a:srgbClr val="F4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54480" y="324612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「どんな人材が欲しいか」の言語化が全ての起点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611880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感覚頼みの採用基準では誰が面接しても同じ判断ができない。人材要件（ペルソナ）の明文化が最初のステップ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594360" cy="59436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25880" y="4572000"/>
            <a:ext cx="10314432" cy="1188720"/>
          </a:xfrm>
          <a:prstGeom prst="roundRect">
            <a:avLst>
              <a:gd name="adj" fmla="val 3846"/>
            </a:avLst>
          </a:prstGeom>
          <a:solidFill>
            <a:srgbClr val="F4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54480" y="466344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経営者自身が採用にコミットする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029200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理念を掲げるだけでなく、経営者が採用担当者と同じ熱量で語れる状態を作ることが、紹介採用依存を脱する第一歩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大和合金株式会社｜人材確保ノウハウ集中支援事業 コンサルティング 次回打ち合わせ資料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TALENT ACQUISITION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人材確保の要点（4〜6）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94360" cy="59436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25880" y="1737360"/>
            <a:ext cx="10314432" cy="1188720"/>
          </a:xfrm>
          <a:prstGeom prst="roundRect">
            <a:avLst>
              <a:gd name="adj" fmla="val 3846"/>
            </a:avLst>
          </a:prstGeom>
          <a:solidFill>
            <a:srgbClr val="F4F4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182880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「出口」の設計が最強の採用ブランディングになる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94560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評価・報酬・成長機会が明確な会社ほど採用力が強い。人材確保は「採る技術」ではなく「活かす仕組み」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25880" y="3154680"/>
            <a:ext cx="10314432" cy="1188720"/>
          </a:xfrm>
          <a:prstGeom prst="roundRect">
            <a:avLst>
              <a:gd name="adj" fmla="val 3846"/>
            </a:avLst>
          </a:prstGeom>
          <a:solidFill>
            <a:srgbClr val="F4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54480" y="324612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中核人材（暗黙知）は逆算で育てる時間軸が必要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611880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10〜20年かけて培われる技術・判断力は採用した瞬間には手に入らない。育成タイムラインをあらかじめ設計する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594360" cy="59436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25880" y="4572000"/>
            <a:ext cx="10314432" cy="1188720"/>
          </a:xfrm>
          <a:prstGeom prst="roundRect">
            <a:avLst>
              <a:gd name="adj" fmla="val 3846"/>
            </a:avLst>
          </a:prstGeom>
          <a:solidFill>
            <a:srgbClr val="F4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54480" y="466344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属人的な暗黙知を「型」に変換する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029200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個人の勘や経験を組織の標準・評価基準として言語化。人が入れ替わっても機能する体制づくりの核心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大和合金株式会社｜人材確保ノウハウ集中支援事業 コンサルティング 次回打ち合わせ資料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EXTERNAL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外部セミナー講師6名からの示唆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「売上100億円を目指す中小企業経営者のための人材戦略」シリーズ　全6名共通のメッセージ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392424" cy="1371600"/>
          </a:xfrm>
          <a:prstGeom prst="roundRect">
            <a:avLst>
              <a:gd name="adj" fmla="val 4000"/>
            </a:avLst>
          </a:prstGeom>
          <a:solidFill>
            <a:srgbClr val="F4F4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大久保 圭祐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令和版オンボーディング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（候補者評価〜入社90日）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8264" y="2240280"/>
            <a:ext cx="3392424" cy="1371600"/>
          </a:xfrm>
          <a:prstGeom prst="roundRect">
            <a:avLst>
              <a:gd name="adj" fmla="val 4000"/>
            </a:avLst>
          </a:prstGeom>
          <a:solidFill>
            <a:srgbClr val="F4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堺 孝善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78892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量×質で考える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採用設計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47888" y="2240280"/>
            <a:ext cx="3392424" cy="1371600"/>
          </a:xfrm>
          <a:prstGeom prst="roundRect">
            <a:avLst>
              <a:gd name="adj" fmla="val 4000"/>
            </a:avLst>
          </a:prstGeom>
          <a:solidFill>
            <a:srgbClr val="F4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30768" y="237744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永見 昌彦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30768" y="278892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失敗しない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人事評価制度導入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392424" cy="1371600"/>
          </a:xfrm>
          <a:prstGeom prst="roundRect">
            <a:avLst>
              <a:gd name="adj" fmla="val 4000"/>
            </a:avLst>
          </a:prstGeom>
          <a:solidFill>
            <a:srgbClr val="B5651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06908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猿渡 秀樹（担当）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48056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AI活用×5軸連動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（ペンタゴンモデル）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98264" y="3931920"/>
            <a:ext cx="3392424" cy="1371600"/>
          </a:xfrm>
          <a:prstGeom prst="roundRect">
            <a:avLst>
              <a:gd name="adj" fmla="val 4000"/>
            </a:avLst>
          </a:prstGeom>
          <a:solidFill>
            <a:srgbClr val="F4F4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81144" y="406908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中山 健児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448056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魅せる処遇と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人事制度刷新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47888" y="3931920"/>
            <a:ext cx="3392424" cy="1371600"/>
          </a:xfrm>
          <a:prstGeom prst="roundRect">
            <a:avLst>
              <a:gd name="adj" fmla="val 4000"/>
            </a:avLst>
          </a:prstGeom>
          <a:solidFill>
            <a:srgbClr val="F4F4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30768" y="406908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武田 学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30768" y="448056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理念×採用の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一心同体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共通項：採用だけを切り離さず、評価・処遇・オンボーディングまで一気通貫で設計するという思想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大和合金株式会社｜人材確保ノウハウ集中支援事業 コンサルティング 次回打ち合わせ資料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OPEN ITEMS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3B1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次回打ち合わせで確認したい事項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9C3B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第2〜5回の日程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76272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現時点で未確定。ペルソナ設計・採用チャネル設計等の各回テーマに沿って早期に確定したい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9C3B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443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原本計画書の役職表記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19272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コンサルティング実施計画書の担当者名欄が「工場長」表記だが、現職は「取締役 本社工場長」。訂正の要否を確認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9C3B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873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ペルソナ案のすり合わせ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462272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「中核人材ペルソナ（案）」「後継者ペルソナ要件（案）」の内容を、猿渡氏の採用基準言語化メソッドと突き合わせて精緻化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rgbClr val="9C3B1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?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3036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採用チャネル・求人票への落とし込み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05272"/>
            <a:ext cx="10314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策定した要件を、実際の求人票・面接評価票にどう反映するかの具体的な進め方を相談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大和合金株式会社｜人材確保ノウハウ集中支援事業 コンサルティング 次回打ち合わせ資料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E2A4A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欲しい人材の言語化から、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採用基準の実装まで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310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欲しい人材の言語化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913632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経営者主導での接点づくり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535424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535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53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評価・処遇までの一気通貫設計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157216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157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1755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育成の時間軸設計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779008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779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7972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暗黙知の型化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A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本資料は「中核人材ペルソナ（案）」「後継者ペルソナ要件（案）」の各シートを要約したものです。詳細は原本エクセルをご参照ください。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2026-09-18T06:55:44Z</dcterms:created>
  <dcterms:modified xsi:type="dcterms:W3CDTF">2026-09-18T06:55:44Z</dcterms:modified>
</cp:coreProperties>
</file>